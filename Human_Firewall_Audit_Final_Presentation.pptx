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2" r:id="rId13"/>
    <p:sldId id="271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D6954-9C71-4F3D-BCF0-623557A1A0D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AEE11-0FBF-44DB-B72D-E16388DDC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AEE11-0FBF-44DB-B72D-E16388DDC3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2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THE HUMAN FIREWALL AUDIT</a:t>
            </a:r>
          </a:p>
          <a:p>
            <a:pPr>
              <a:spcBef>
                <a:spcPts val="1800"/>
              </a:spcBef>
              <a:defRPr sz="2100">
                <a:solidFill>
                  <a:srgbClr val="CDDCE6"/>
                </a:solidFill>
              </a:defRPr>
            </a:pPr>
            <a:r>
              <a:t>Cybersecurity Project – Social Engineering Awareness &amp; Defense</a:t>
            </a:r>
          </a:p>
          <a:p>
            <a:pPr>
              <a:spcBef>
                <a:spcPts val="2500"/>
              </a:spcBef>
              <a:defRPr sz="1500">
                <a:solidFill>
                  <a:srgbClr val="B4C3CD"/>
                </a:solidFill>
              </a:defRPr>
            </a:pPr>
            <a:r>
              <a:t>Pawan Tiwari  |  B.Tech CSE  |  Ambalika Institute of Management &amp;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/>
              <a:t>Simulate a fictional multi-vector social-engineering attempt.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Use public-information exposure to identify human and workflow risks.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Build awareness material and a layered defense strategy.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Demonstrate defensive controls through a working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Target Organization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230" y="2180758"/>
            <a:ext cx="2672526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3B5D"/>
                </a:solidFill>
              </a:defRPr>
            </a:pPr>
            <a:r>
              <a:rPr dirty="0" err="1"/>
              <a:t>StreamZone</a:t>
            </a:r>
            <a:r>
              <a:rPr dirty="0"/>
              <a:t> Studios</a:t>
            </a:r>
            <a:endParaRPr lang="en-US" dirty="0"/>
          </a:p>
          <a:p>
            <a:pPr>
              <a:spcBef>
                <a:spcPts val="1200"/>
              </a:spcBef>
              <a:defRPr sz="1500"/>
            </a:pPr>
            <a:r>
              <a:rPr lang="en-US" dirty="0"/>
              <a:t>Fictional online entertainment /</a:t>
            </a:r>
          </a:p>
          <a:p>
            <a:pPr>
              <a:spcBef>
                <a:spcPts val="1200"/>
              </a:spcBef>
              <a:defRPr sz="1500"/>
            </a:pPr>
            <a:r>
              <a:rPr lang="en-US" dirty="0"/>
              <a:t> streaming company</a:t>
            </a:r>
            <a:br>
              <a:rPr lang="en-US" dirty="0"/>
            </a:br>
            <a:r>
              <a:rPr lang="en-US" dirty="0"/>
              <a:t>~85 employees</a:t>
            </a:r>
            <a:br>
              <a:rPr lang="en-US" dirty="0"/>
            </a:br>
            <a:r>
              <a:rPr lang="en-US" dirty="0"/>
              <a:t>Mumbai</a:t>
            </a:r>
          </a:p>
          <a:p>
            <a:pPr>
              <a:spcBef>
                <a:spcPts val="1200"/>
              </a:spcBef>
              <a:defRPr sz="1500"/>
            </a:pP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526280" y="1417320"/>
            <a:ext cx="347472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47765" y="2180758"/>
            <a:ext cx="1902059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3B5D"/>
                </a:solidFill>
              </a:defRPr>
            </a:pPr>
            <a:r>
              <a:rPr dirty="0"/>
              <a:t>Sensitive Data</a:t>
            </a:r>
          </a:p>
          <a:p>
            <a:pPr>
              <a:spcBef>
                <a:spcPts val="1200"/>
              </a:spcBef>
              <a:defRPr sz="1500"/>
            </a:pPr>
            <a:r>
              <a:rPr dirty="0"/>
              <a:t>Sponsorship contracts</a:t>
            </a:r>
            <a:br>
              <a:rPr dirty="0"/>
            </a:br>
            <a:r>
              <a:rPr dirty="0"/>
              <a:t>Upcoming content</a:t>
            </a:r>
            <a:br>
              <a:rPr dirty="0"/>
            </a:br>
            <a:r>
              <a:rPr dirty="0"/>
              <a:t>Unreleased media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17320"/>
            <a:ext cx="347472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6148" y="2134591"/>
            <a:ext cx="2433038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3B5D"/>
                </a:solidFill>
              </a:defRPr>
            </a:pPr>
            <a:r>
              <a:rPr dirty="0"/>
              <a:t>Exposure</a:t>
            </a:r>
          </a:p>
          <a:p>
            <a:pPr>
              <a:spcBef>
                <a:spcPts val="1200"/>
              </a:spcBef>
              <a:defRPr sz="1500"/>
            </a:pPr>
            <a:r>
              <a:rPr dirty="0"/>
              <a:t>Public social content</a:t>
            </a:r>
            <a:br>
              <a:rPr dirty="0"/>
            </a:br>
            <a:r>
              <a:rPr dirty="0"/>
              <a:t>Job postings</a:t>
            </a:r>
            <a:br>
              <a:rPr dirty="0"/>
            </a:br>
            <a:r>
              <a:rPr dirty="0"/>
              <a:t>Workflow &amp; tool oversharing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OSINT / Reconnaissance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/>
              <a:t>Behind-the-scenes content can reveal screens and work activity.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Job listings reveal tools and workflow patterns such as Canva, Google Ads and Slack.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Personal/company boundaries may be visible through references to personal cloud storage.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Travel or availability posts can provide contextual information.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Public workflow references can make social-engineering pretexts more believable.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Threat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6593" y="1990977"/>
            <a:ext cx="2441694" cy="11541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3B5D"/>
                </a:solidFill>
              </a:defRPr>
            </a:pPr>
            <a:r>
              <a:rPr dirty="0"/>
              <a:t>Human Layer</a:t>
            </a:r>
          </a:p>
          <a:p>
            <a:pPr>
              <a:spcBef>
                <a:spcPts val="1200"/>
              </a:spcBef>
              <a:defRPr sz="1500"/>
            </a:pPr>
            <a:r>
              <a:rPr dirty="0"/>
              <a:t>Trust, urgency, ambition and </a:t>
            </a:r>
            <a:endParaRPr lang="en-US" dirty="0"/>
          </a:p>
          <a:p>
            <a:pPr>
              <a:spcBef>
                <a:spcPts val="1200"/>
              </a:spcBef>
              <a:defRPr sz="1500"/>
            </a:pPr>
            <a:r>
              <a:rPr dirty="0"/>
              <a:t>cross-channel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17320"/>
            <a:ext cx="347472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66959" y="1990977"/>
            <a:ext cx="2373214" cy="11541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3B5D"/>
                </a:solidFill>
              </a:defRPr>
            </a:pPr>
            <a:r>
              <a:rPr dirty="0"/>
              <a:t>Information Layer</a:t>
            </a:r>
          </a:p>
          <a:p>
            <a:pPr>
              <a:spcBef>
                <a:spcPts val="1200"/>
              </a:spcBef>
              <a:defRPr sz="1500"/>
            </a:pPr>
            <a:r>
              <a:rPr dirty="0"/>
              <a:t>Public posts, job listings and</a:t>
            </a:r>
            <a:endParaRPr lang="en-US" dirty="0"/>
          </a:p>
          <a:p>
            <a:pPr>
              <a:spcBef>
                <a:spcPts val="1200"/>
              </a:spcBef>
              <a:defRPr sz="1500"/>
            </a:pPr>
            <a:r>
              <a:rPr dirty="0"/>
              <a:t> workflow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17320"/>
            <a:ext cx="347472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10092" y="1990977"/>
            <a:ext cx="2482667" cy="11541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3B5D"/>
                </a:solidFill>
              </a:defRPr>
            </a:pPr>
            <a:r>
              <a:rPr dirty="0"/>
              <a:t>Technical Layer</a:t>
            </a:r>
          </a:p>
          <a:p>
            <a:pPr>
              <a:spcBef>
                <a:spcPts val="1200"/>
              </a:spcBef>
              <a:defRPr sz="1500"/>
            </a:pPr>
            <a:r>
              <a:rPr dirty="0"/>
              <a:t>Email links, redirects, identity</a:t>
            </a:r>
            <a:endParaRPr lang="en-US" dirty="0"/>
          </a:p>
          <a:p>
            <a:pPr>
              <a:spcBef>
                <a:spcPts val="1200"/>
              </a:spcBef>
              <a:defRPr sz="1500"/>
            </a:pPr>
            <a:r>
              <a:rPr dirty="0"/>
              <a:t>/access and account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Multi-Vector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9616"/>
            <a:ext cx="1069848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/>
              <a:t>Vector 1: a fictional phishing message presents a high-value opportunity and points to a simulated login/upload flow.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Vector 2: a fictional influencer-style account contacts the PR function to reinforce the same opportunity.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The simulation demonstrates how two channels can make one request appear more credible.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No real credentials are collected and no real organization is targeted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Awareness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/>
              <a:t>Poster theme: “Don’t Let Fame Fool You!”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Verify attractive opportunities through an established company contact method.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Do not trust pressure, secrecy, unexpected links, or social-media verification alone.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Report suspicious collaboration and partnership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Social-Engineering Red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53352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/>
              <a:t>Unexpected partnership or collaboration request.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Urgency, pressure, or secrecy.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Domain mismatch or unusual redirect.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Request for passwords, codes, sensitive files, or unreleased content.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Verification through an unrelated social-media account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Defense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45870" y="1939218"/>
            <a:ext cx="30175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3B5D"/>
                </a:solidFill>
              </a:defRPr>
            </a:pPr>
            <a:r>
              <a:rPr dirty="0"/>
              <a:t>People</a:t>
            </a:r>
          </a:p>
          <a:p>
            <a:pPr>
              <a:spcBef>
                <a:spcPts val="1200"/>
              </a:spcBef>
              <a:defRPr sz="1500"/>
            </a:pPr>
            <a:r>
              <a:rPr dirty="0"/>
              <a:t>Awareness training</a:t>
            </a:r>
            <a:br>
              <a:rPr dirty="0"/>
            </a:br>
            <a:r>
              <a:rPr dirty="0"/>
              <a:t>Verification drills</a:t>
            </a:r>
            <a:br>
              <a:rPr dirty="0"/>
            </a:br>
            <a:r>
              <a:rPr dirty="0"/>
              <a:t>Reporting 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17320"/>
            <a:ext cx="347472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97780" y="1939218"/>
            <a:ext cx="30175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3B5D"/>
                </a:solidFill>
              </a:defRPr>
            </a:pPr>
            <a:r>
              <a:rPr dirty="0"/>
              <a:t>Technology</a:t>
            </a:r>
          </a:p>
          <a:p>
            <a:pPr>
              <a:spcBef>
                <a:spcPts val="1200"/>
              </a:spcBef>
              <a:defRPr sz="1500"/>
            </a:pPr>
            <a:r>
              <a:rPr dirty="0"/>
              <a:t>DMARC</a:t>
            </a:r>
            <a:br>
              <a:rPr dirty="0"/>
            </a:br>
            <a:r>
              <a:rPr dirty="0"/>
              <a:t>Zero-Trust access</a:t>
            </a:r>
            <a:br>
              <a:rPr dirty="0"/>
            </a:br>
            <a:r>
              <a:rPr dirty="0"/>
              <a:t>OAuth restrictions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17320"/>
            <a:ext cx="3474720" cy="4206240"/>
          </a:xfrm>
          <a:prstGeom prst="roundRect">
            <a:avLst/>
          </a:prstGeom>
          <a:solidFill>
            <a:srgbClr val="F3F6F8"/>
          </a:solidFill>
          <a:ln>
            <a:solidFill>
              <a:srgbClr val="B4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1939218"/>
            <a:ext cx="30175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3B5D"/>
                </a:solidFill>
              </a:defRPr>
            </a:pPr>
            <a:r>
              <a:rPr dirty="0"/>
              <a:t>Protection</a:t>
            </a:r>
          </a:p>
          <a:p>
            <a:pPr>
              <a:spcBef>
                <a:spcPts val="1200"/>
              </a:spcBef>
              <a:defRPr sz="1500"/>
            </a:pPr>
            <a:r>
              <a:rPr dirty="0"/>
              <a:t>Digital watermarking</a:t>
            </a:r>
            <a:br>
              <a:rPr dirty="0"/>
            </a:br>
            <a:r>
              <a:rPr dirty="0"/>
              <a:t>Monitoring</a:t>
            </a:r>
            <a:br>
              <a:rPr dirty="0"/>
            </a:br>
            <a:r>
              <a:rPr dirty="0"/>
              <a:t>Incident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Working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4725"/>
            <a:ext cx="106984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 err="1"/>
              <a:t>Streamlit</a:t>
            </a:r>
            <a:r>
              <a:rPr sz="2800" dirty="0"/>
              <a:t>-based defensive demonstration.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Dashboard: project overview and threat model.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Phishing Analysis: sample-message heuristic inspection.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Password Security: basic password-strength characteristics.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Login Security: limited attempts and lockout demonstration.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Awareness Center + Activity 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Working Application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B0EDBD-3EB9-18FD-6C20-1298854EB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617"/>
            <a:ext cx="6029864" cy="57939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8E1AEA-4683-A3F5-A8B2-5A0CAF70F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795618"/>
            <a:ext cx="5927210" cy="579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86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Working Application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2CEEAF-FA2E-8DEA-8B1A-60A5E1B9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2" y="796726"/>
            <a:ext cx="6228271" cy="57248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7DC543-E07B-CC04-C566-F3ED95110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547" y="796726"/>
            <a:ext cx="5739441" cy="572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454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Working Application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AA93B-15C4-7C39-4830-CC5ECD9D5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77824"/>
            <a:ext cx="6021713" cy="58338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B115EB-3DD4-101A-E731-9B186433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7" y="877824"/>
            <a:ext cx="5947427" cy="583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78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Phishing Analysis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9616"/>
            <a:ext cx="106984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/>
              <a:t>Checks suspicious keywords and URLs in a sample email.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Produces a simple risk indication for educational demonstration.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Designed to teach recognition rather than replace enterprise email-security systems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Password &amp; Login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/>
              <a:t>Password checker evaluates length, uppercase/lowercase, digits and special characters.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Login monitor demonstrates a three-attempt limit.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After the limit, the demo locks the login flow.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Concepts illustrated: rate limiting, account protection and defensive monitoring.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Results /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/>
              <a:t>Connects human behavior with technical security controls.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Shows how public information can increase social-engineering credibility.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Provides practical red flags for employees and PR teams.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Demonstrates defensive concepts in a working application.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/>
              <a:t>Database-backed activity and incident logging.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Role-based access and configurable training scenarios.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Richer phishing classification and analytics.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Controlled security-awareness campaign management.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Integration with safe enterprise training environments.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Ethical Statement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7858"/>
            <a:ext cx="10698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sz="2800" dirty="0"/>
              <a:t>Fictional organization only.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No real impersonation, phishing, credential collection, or real-world targeting.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Core lesson: Think like an attacker, but defend like a strategist.</a:t>
            </a:r>
          </a:p>
          <a:p>
            <a:pPr>
              <a:spcAft>
                <a:spcPts val="1200"/>
              </a:spcAft>
              <a:defRPr sz="1900"/>
            </a:pPr>
            <a:r>
              <a:rPr sz="2800" dirty="0"/>
              <a:t>A strong human firewall combines awareness, verification, access control, monitoring and response.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634</Words>
  <Application>Microsoft Office PowerPoint</Application>
  <PresentationFormat>Widescreen</PresentationFormat>
  <Paragraphs>91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Pawan Tiwari</cp:lastModifiedBy>
  <cp:revision>5</cp:revision>
  <dcterms:created xsi:type="dcterms:W3CDTF">2013-01-27T09:14:16Z</dcterms:created>
  <dcterms:modified xsi:type="dcterms:W3CDTF">2026-10-01T19:20:02Z</dcterms:modified>
  <cp:category/>
</cp:coreProperties>
</file>